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822960"/>
            <a:ext cx="1920240" cy="192024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1828800"/>
            <a:ext cx="1234440" cy="1234440"/>
          </a:xfrm>
          <a:prstGeom prst="ellipse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2926080"/>
            <a:ext cx="685800" cy="68580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3657600"/>
            <a:ext cx="1554480" cy="1554480"/>
          </a:xfrm>
          <a:prstGeom prst="ellipse">
            <a:avLst/>
          </a:prstGeom>
          <a:solidFill>
            <a:srgbClr val="304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5029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3BEAA"/>
                </a:solidFill>
                <a:latin typeface="Aptos"/>
              </a:rPr>
              <a:t>FINAL PROJECT PRESENTATION  •  MILESTONES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7498079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8FAFD"/>
                </a:solidFill>
                <a:latin typeface="Aptos"/>
              </a:rPr>
              <a:t>MarketMind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87168"/>
            <a:ext cx="704088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5CD0E6"/>
                </a:solidFill>
                <a:latin typeface="Aptos"/>
              </a:rPr>
              <a:t>Small Business Sales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60350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4C0D2"/>
                </a:solidFill>
                <a:latin typeface="Aptos"/>
              </a:rPr>
              <a:t>Turning retail transactions into clearer decisions on sales, customers, inventory, and growth.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1234440" cy="310896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4924044"/>
            <a:ext cx="1161288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1" i="0">
                <a:solidFill>
                  <a:srgbClr val="111B30"/>
                </a:solidFill>
                <a:latin typeface="Aptos"/>
              </a:rPr>
              <a:t>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892040"/>
            <a:ext cx="1051560" cy="310896"/>
          </a:xfrm>
          <a:prstGeom prst="round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31136" y="4924044"/>
            <a:ext cx="978407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1" i="0">
                <a:solidFill>
                  <a:srgbClr val="111B30"/>
                </a:solidFill>
                <a:latin typeface="Aptos"/>
              </a:rPr>
              <a:t>FORECASTING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892040"/>
            <a:ext cx="105156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4924044"/>
            <a:ext cx="978407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1" i="0">
                <a:solidFill>
                  <a:srgbClr val="111B30"/>
                </a:solidFill>
                <a:latin typeface="Aptos"/>
              </a:rPr>
              <a:t>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5029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Presented by Aditya Pandya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01 •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Small businesses often have data, but not a single place to turn it into practical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029968"/>
            <a:ext cx="54864" cy="2112263"/>
          </a:xfrm>
          <a:prstGeom prst="rect">
            <a:avLst/>
          </a:prstGeom>
          <a:solidFill>
            <a:srgbClr val="F6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Disconnected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78608"/>
            <a:ext cx="3073983" cy="93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Sales, customer behavior, inventory,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 and invoices can live in separate 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029968"/>
            <a:ext cx="54864" cy="2112263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08483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Reactive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578608"/>
            <a:ext cx="3149965" cy="93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Without analysis, teams may miss 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demand changes, at-risk customers, 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or unusual transactions.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2024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029968"/>
            <a:ext cx="54864" cy="211226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08483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MarketMind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578608"/>
            <a:ext cx="3032305" cy="93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A unified platform for dashboards,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 forecasts, customer insights, 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recommendations, and risk signals.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10613098" cy="75405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 dirty="0">
                <a:solidFill>
                  <a:srgbClr val="F8FAFD"/>
                </a:solidFill>
                <a:latin typeface="Aptos"/>
              </a:rPr>
              <a:t>Core objective: help business users move from “What happened?” to “What may happen next—</a:t>
            </a:r>
            <a:endParaRPr lang="en-US" sz="1900" b="1" i="0" dirty="0">
              <a:solidFill>
                <a:srgbClr val="F8FAFD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900" b="1" i="0" dirty="0">
                <a:solidFill>
                  <a:srgbClr val="F8FAFD"/>
                </a:solidFill>
                <a:latin typeface="Aptos"/>
              </a:rPr>
              <a:t>and what should we do?”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02 •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One platform, connected business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The project combines standard application features with AI/ML-driven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15087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54864" cy="128930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1089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Sales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3108960" cy="7406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Track transaction activity and revenue trends.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74720" cy="15087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938528"/>
            <a:ext cx="54864" cy="1289304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993392"/>
            <a:ext cx="31089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Inventory &amp; 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487168"/>
            <a:ext cx="3108960" cy="7406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Support stock visibility and invoice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474720" cy="15087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938528"/>
            <a:ext cx="54864" cy="128930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993392"/>
            <a:ext cx="31089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Customer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487168"/>
            <a:ext cx="3108960" cy="7406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Group customers by purchasing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474720" cy="15087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67328"/>
            <a:ext cx="54864" cy="1289304"/>
          </a:xfrm>
          <a:prstGeom prst="rect">
            <a:avLst/>
          </a:prstGeom>
          <a:solidFill>
            <a:srgbClr val="58C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822191"/>
            <a:ext cx="31089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15968"/>
            <a:ext cx="3108960" cy="7406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Estimate future sales, revenue, and demand.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3474720" cy="15087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767328"/>
            <a:ext cx="54864" cy="1289304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822191"/>
            <a:ext cx="31089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315968"/>
            <a:ext cx="3108960" cy="7406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Suggest products for cross-sell and upsell.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657600"/>
            <a:ext cx="3474720" cy="15087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767328"/>
            <a:ext cx="54864" cy="1289304"/>
          </a:xfrm>
          <a:prstGeom prst="rect">
            <a:avLst/>
          </a:prstGeom>
          <a:solidFill>
            <a:srgbClr val="F6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822191"/>
            <a:ext cx="31089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Churn &amp; anomalies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315968"/>
            <a:ext cx="3108960" cy="7406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Surface retention risks and unusual activity.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03 •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A layered design keeps the user interface, API layer, business logic, data handling, and ML capabilities separated.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965960" cy="914400"/>
          </a:xfrm>
          <a:prstGeom prst="roundRect">
            <a:avLst/>
          </a:prstGeom>
          <a:solidFill>
            <a:srgbClr val="1B2A46"/>
          </a:solidFill>
          <a:ln>
            <a:solidFill>
              <a:srgbClr val="23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174650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23BEAA"/>
                </a:solidFill>
                <a:latin typeface="Aptos"/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96896"/>
            <a:ext cx="1746504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8FAFD"/>
                </a:solidFill>
                <a:latin typeface="Aptos"/>
              </a:rPr>
              <a:t>Streamlit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148840"/>
            <a:ext cx="1965960" cy="914400"/>
          </a:xfrm>
          <a:prstGeom prst="roundRect">
            <a:avLst/>
          </a:prstGeom>
          <a:solidFill>
            <a:srgbClr val="1B2A46"/>
          </a:solidFill>
          <a:ln>
            <a:solidFill>
              <a:srgbClr val="5CD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2286000"/>
            <a:ext cx="174650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5CD0E6"/>
                </a:solidFill>
                <a:latin typeface="Aptos"/>
              </a:rPr>
              <a:t>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596896"/>
            <a:ext cx="1746504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8FAFD"/>
                </a:solidFill>
                <a:latin typeface="Aptos"/>
              </a:rPr>
              <a:t>FastAPI / Uvicorn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148840"/>
            <a:ext cx="2148840" cy="914400"/>
          </a:xfrm>
          <a:prstGeom prst="roundRect">
            <a:avLst/>
          </a:prstGeom>
          <a:solidFill>
            <a:srgbClr val="1B2A46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33288" y="2286000"/>
            <a:ext cx="192938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B547"/>
                </a:solidFill>
                <a:latin typeface="Aptos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2596896"/>
            <a:ext cx="1929384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8FAFD"/>
                </a:solidFill>
                <a:latin typeface="Aptos"/>
              </a:rPr>
              <a:t>Analytics + 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148840"/>
            <a:ext cx="2880360" cy="914400"/>
          </a:xfrm>
          <a:prstGeom prst="roundRect">
            <a:avLst/>
          </a:prstGeom>
          <a:solidFill>
            <a:srgbClr val="1B2A46"/>
          </a:solidFill>
          <a:ln>
            <a:solidFill>
              <a:srgbClr val="58C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2286000"/>
            <a:ext cx="2660904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58CD96"/>
                </a:solidFill>
                <a:latin typeface="Aptos"/>
              </a:rPr>
              <a:t>AI / ML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596896"/>
            <a:ext cx="2660904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8FAFD"/>
                </a:solidFill>
                <a:latin typeface="Aptos"/>
              </a:rPr>
              <a:t>Forecasts • segments • risk • recs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606040"/>
            <a:ext cx="502920" cy="0"/>
          </a:xfrm>
          <a:prstGeom prst="line">
            <a:avLst/>
          </a:prstGeom>
          <a:ln w="25400">
            <a:solidFill>
              <a:srgbClr val="23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2606040"/>
            <a:ext cx="502920" cy="0"/>
          </a:xfrm>
          <a:prstGeom prst="line">
            <a:avLst/>
          </a:prstGeom>
          <a:ln w="25400">
            <a:solidFill>
              <a:srgbClr val="23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2606040"/>
            <a:ext cx="502920" cy="0"/>
          </a:xfrm>
          <a:prstGeom prst="line">
            <a:avLst/>
          </a:prstGeom>
          <a:ln w="25400">
            <a:solidFill>
              <a:srgbClr val="23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54680" y="3977639"/>
            <a:ext cx="4617720" cy="914400"/>
          </a:xfrm>
          <a:prstGeom prst="roundRect">
            <a:avLst/>
          </a:prstGeom>
          <a:solidFill>
            <a:srgbClr val="20314C"/>
          </a:solidFill>
          <a:ln>
            <a:solidFill>
              <a:srgbClr val="496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4133087"/>
            <a:ext cx="4251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23BEAA"/>
                </a:solidFill>
                <a:latin typeface="Aptos"/>
              </a:rPr>
              <a:t>DATA &amp;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425696"/>
            <a:ext cx="4251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8FAFD"/>
                </a:solidFill>
                <a:latin typeface="Aptos"/>
              </a:rPr>
              <a:t>Retail transaction datasets • application records • SQLAlchemy / database layer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3063240"/>
            <a:ext cx="0" cy="914399"/>
          </a:xfrm>
          <a:prstGeom prst="line">
            <a:avLst/>
          </a:prstGeom>
          <a:ln w="25400">
            <a:solidFill>
              <a:srgbClr val="23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75120" y="3063240"/>
            <a:ext cx="0" cy="914399"/>
          </a:xfrm>
          <a:prstGeom prst="line">
            <a:avLst/>
          </a:prstGeom>
          <a:ln w="25400">
            <a:solidFill>
              <a:srgbClr val="23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4C0D2"/>
                </a:solidFill>
                <a:latin typeface="Aptos"/>
              </a:rPr>
              <a:t>Design principle: keep API endpoints focused, reuse shared data/services, and expose results in a form the dashboard can display.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04 • MILESTONE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Foundation: application and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Milestone 1 established the working application structure and core business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1031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188366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Backend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3026854" cy="6001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Python + </a:t>
            </a:r>
            <a:r>
              <a:rPr sz="1400" b="0" i="0" dirty="0" err="1">
                <a:solidFill>
                  <a:srgbClr val="B4C0D2"/>
                </a:solidFill>
                <a:latin typeface="Aptos"/>
              </a:rPr>
              <a:t>FastAPI</a:t>
            </a:r>
            <a:r>
              <a:rPr sz="1400" b="0" i="0" dirty="0">
                <a:solidFill>
                  <a:srgbClr val="B4C0D2"/>
                </a:solidFill>
                <a:latin typeface="Aptos"/>
              </a:rPr>
              <a:t> API structure, with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endpoints for core platform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1031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38528"/>
            <a:ext cx="54864" cy="1883663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User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87168"/>
            <a:ext cx="3073662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Authentication and role-based access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control (RBAC) to separate user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21031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38528"/>
            <a:ext cx="54864" cy="1883663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Business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3338991" cy="6001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Initial sales analytics, inventory APIs,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and invoice-related workflow/persistence.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1060704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Outcome: a foundation that later milestones could extend without rebuilding the whole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105156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Data foundation: UCI Online Retail II was used for historical retail transaction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05 •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Customer intelligence 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Milestone 2 added analytical models and connected their outputs to business-facing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24028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202082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Customer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3148682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K-Means and hierarchical clustering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 help identify behavior-based customer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24028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38528"/>
            <a:ext cx="54864" cy="2020824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Forecasting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87168"/>
            <a:ext cx="2888035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Prophet, Random Forest, and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B4C0D2"/>
                </a:solidFill>
                <a:latin typeface="Aptos"/>
              </a:rPr>
              <a:t>XGBoost</a:t>
            </a:r>
            <a:r>
              <a:rPr sz="1400" b="0" i="0" dirty="0">
                <a:solidFill>
                  <a:srgbClr val="B4C0D2"/>
                </a:solidFill>
                <a:latin typeface="Aptos"/>
              </a:rPr>
              <a:t> approaches were explored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 and compared for forecast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224028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38528"/>
            <a:ext cx="54864" cy="202082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Reporting &amp;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2641749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Segment and forecast outputs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 exposed through API endpoints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 and presented in the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104241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Business value: understand who customers are, estimate what demand or revenue may look like, and make results accessible to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06 • MILESTONE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Recommendations: what should a customer buy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Two complementary techniques cover personalized suggestions and products that commonly appear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24231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220370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800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Collaborative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4492127" cy="63094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Uses patterns across customer purchase histories to 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suggest products that similar customers bought.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66360" cy="242316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938528"/>
            <a:ext cx="54864" cy="2203704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993392"/>
            <a:ext cx="4800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Association rule mining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487168"/>
            <a:ext cx="4564263" cy="93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Uses transaction baskets to find product pairings.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 Support, confidence, and lift help assess the strength </a:t>
            </a:r>
            <a:endParaRPr lang="en-US" sz="15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B4C0D2"/>
                </a:solidFill>
                <a:latin typeface="Aptos"/>
              </a:rPr>
              <a:t>of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1014984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Example business use: recommend a complementary product during a sale or create targeted cross-sell campaigns.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07 • MILESTONE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Churn prediction: who may stop buying?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The objective is to help teams act before a customer becomes inactive for too long.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28600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206654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848921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Purchase recency, order frequency,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and customer activity can indicate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changing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38528"/>
            <a:ext cx="54864" cy="2066543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Modeling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87168"/>
            <a:ext cx="2667205" cy="11849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Classification models such as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Random Forest, </a:t>
            </a:r>
            <a:r>
              <a:rPr sz="1400" b="0" i="0" dirty="0" err="1">
                <a:solidFill>
                  <a:srgbClr val="B4C0D2"/>
                </a:solidFill>
                <a:latin typeface="Aptos"/>
              </a:rPr>
              <a:t>XGBoost</a:t>
            </a:r>
            <a:r>
              <a:rPr sz="1400" b="0" i="0" dirty="0">
                <a:solidFill>
                  <a:srgbClr val="B4C0D2"/>
                </a:solidFill>
                <a:latin typeface="Aptos"/>
              </a:rPr>
              <a:t>, or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Logistic Regression can estimate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churn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228600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38528"/>
            <a:ext cx="54864" cy="2066543"/>
          </a:xfrm>
          <a:prstGeom prst="rect">
            <a:avLst/>
          </a:prstGeom>
          <a:solidFill>
            <a:srgbClr val="F6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Actionable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2993320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Risk probabilities or categories can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help prioritize retention outreach and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connect risk to customer segments.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4241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Important: churn predictions are decision-support signals, not certainty that a customer will leave.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08 • MILESTONE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Anomaly detection: what deserves a closer look?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Flag unusual sales or inventory activity so a person can investigate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211226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Input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561086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Transaction quantity, unit price,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total amount, timing, and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related business 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38528"/>
            <a:ext cx="54864" cy="2112263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Detection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87168"/>
            <a:ext cx="2369816" cy="11849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Statistical outlier checks and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Isolation Forest can identify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unusual records or feature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 combinations.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38528"/>
            <a:ext cx="54864" cy="2112263"/>
          </a:xfrm>
          <a:prstGeom prst="rect">
            <a:avLst/>
          </a:prstGeom>
          <a:solidFill>
            <a:srgbClr val="F6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Business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2975623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Review flagged records for data entry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issues, unusual purchasing, pricing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problems, or potential misuse.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4241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An anomaly is not automatically fraud; it is a signal for review and investigation.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09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From models to usable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The goal is not just to run models—it is to make their outputs accessible through the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28600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206654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API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3063240" cy="15179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/sales/summary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/segments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/forecast/demand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/forecast/revenue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C0D2"/>
                </a:solidFill>
                <a:latin typeface="Aptos"/>
              </a:rPr>
              <a:t>/forecast/models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38528"/>
            <a:ext cx="54864" cy="2066543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Milestone 3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87168"/>
            <a:ext cx="3289747" cy="84638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B4C0D2"/>
                </a:solidFill>
                <a:latin typeface="Aptos"/>
              </a:rPr>
              <a:t>/inventory/preview and recommendation, </a:t>
            </a:r>
            <a:endParaRPr lang="en-US" sz="13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B4C0D2"/>
                </a:solidFill>
                <a:latin typeface="Aptos"/>
              </a:rPr>
              <a:t>churn, or anomaly-related service </a:t>
            </a:r>
            <a:endParaRPr lang="en-US" sz="13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B4C0D2"/>
                </a:solidFill>
                <a:latin typeface="Aptos"/>
              </a:rPr>
              <a:t>outputs as implemented in the current 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228600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38528"/>
            <a:ext cx="54864" cy="2066543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3145348" cy="84638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B4C0D2"/>
                </a:solidFill>
                <a:latin typeface="Aptos"/>
              </a:rPr>
              <a:t>Endpoints were exercised during </a:t>
            </a:r>
            <a:endParaRPr lang="en-US" sz="13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B4C0D2"/>
                </a:solidFill>
                <a:latin typeface="Aptos"/>
              </a:rPr>
              <a:t>development; demonstrate representative </a:t>
            </a:r>
            <a:endParaRPr lang="en-US" sz="13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B4C0D2"/>
                </a:solidFill>
                <a:latin typeface="Aptos"/>
              </a:rPr>
              <a:t>requests and matching dashboard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5156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Implementation emphasis: consistent response schemas, clear error handling, access control, and testable endpoint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10 •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Suggested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A short sequence that tells a clear story from secure access to useful business insight.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438912" cy="438912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84248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111B3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856231"/>
            <a:ext cx="2651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21992"/>
            <a:ext cx="2788920" cy="7498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4C0D2"/>
                </a:solidFill>
                <a:latin typeface="Aptos"/>
              </a:rPr>
              <a:t>Show authentication and role-specific access.</a:t>
            </a:r>
          </a:p>
        </p:txBody>
      </p:sp>
      <p:sp>
        <p:nvSpPr>
          <p:cNvPr id="9" name="Oval 8"/>
          <p:cNvSpPr/>
          <p:nvPr/>
        </p:nvSpPr>
        <p:spPr>
          <a:xfrm>
            <a:off x="4526280" y="1920240"/>
            <a:ext cx="438912" cy="438912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984248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111B3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1856231"/>
            <a:ext cx="2651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Review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2221992"/>
            <a:ext cx="2746906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Open sales summary and inventory/invoice </a:t>
            </a:r>
            <a:endParaRPr lang="en-US" sz="11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workflows.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920240"/>
            <a:ext cx="438912" cy="438912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84248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111B3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856231"/>
            <a:ext cx="2651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Explore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221992"/>
            <a:ext cx="2429511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Show customer segments and explain </a:t>
            </a:r>
            <a:endParaRPr lang="en-US" sz="11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one segment.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20440"/>
            <a:ext cx="438912" cy="438912"/>
          </a:xfrm>
          <a:prstGeom prst="ellipse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8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111B3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56432"/>
            <a:ext cx="2651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View forecasts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822191"/>
            <a:ext cx="2538515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Compare available forecast outputs and</a:t>
            </a:r>
            <a:endParaRPr lang="en-US" sz="11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 model information.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4526280" y="3520440"/>
            <a:ext cx="438912" cy="438912"/>
          </a:xfrm>
          <a:prstGeom prst="ellipse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3584448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111B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3456432"/>
            <a:ext cx="2651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Show M3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3822191"/>
            <a:ext cx="2786981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Demonstrate recommendations, churn risk, </a:t>
            </a:r>
            <a:endParaRPr lang="en-US" sz="11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lang="en-IN" sz="1100" b="0" i="0" dirty="0">
                <a:solidFill>
                  <a:srgbClr val="B4C0D2"/>
                </a:solidFill>
                <a:latin typeface="Aptos"/>
              </a:rPr>
              <a:t>and anomaly flags.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3520440"/>
            <a:ext cx="438912" cy="438912"/>
          </a:xfrm>
          <a:prstGeom prst="ellipse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584448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111B30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3456432"/>
            <a:ext cx="2651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Close the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3822191"/>
            <a:ext cx="2270814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Show API response or report output </a:t>
            </a:r>
            <a:endParaRPr lang="en-US" sz="11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B4C0D2"/>
                </a:solidFill>
                <a:latin typeface="Aptos"/>
              </a:rPr>
              <a:t>and explain the business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10332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547"/>
                </a:solidFill>
                <a:latin typeface="Aptos"/>
              </a:rPr>
              <a:t>Tip: use one realistic customer or transaction example and explain what decision the output could support.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3BEAA"/>
                </a:solidFill>
                <a:latin typeface="Aptos"/>
              </a:rPr>
              <a:t>11 • ENGINEERING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What matters beyond a working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The next stage is about reliability, measurable model quality, and production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4864" cy="211226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82355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Keep automated tests for key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endpoints, schemas, authentication,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and representative edge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38528"/>
            <a:ext cx="54864" cy="2112263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87168"/>
            <a:ext cx="3079754" cy="8925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Track forecast error, churn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precision/recall, recommendation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relevance, and anomaly review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233172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38528"/>
            <a:ext cx="54864" cy="2112263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632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Production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2980881" cy="11849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Add monitoring, data-quality checks,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reproducible model versions,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auditability, and deployment </a:t>
            </a:r>
            <a:endParaRPr lang="en-US" sz="1400" b="0" i="0" dirty="0">
              <a:solidFill>
                <a:srgbClr val="B4C0D2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B4C0D2"/>
                </a:solidFill>
                <a:latin typeface="Aptos"/>
              </a:rPr>
              <a:t>configuration.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B4C0D2"/>
                </a:solidFill>
                <a:latin typeface="Aptos"/>
              </a:rPr>
              <a:t>These are ongoing engineering priorities—not claims that every production control is already complete.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B4C0D2"/>
                </a:solidFill>
                <a:latin typeface="Aptos"/>
              </a:rPr>
              <a:t>MARKETMIND AI  •  MILESTONES 1–4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50292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1D6DC"/>
                </a:solidFill>
                <a:latin typeface="Aptos"/>
              </a:defRPr>
            </a:pPr>
            <a:r>
              <a:t>10 •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Final polish: make the first impression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AB8D2"/>
                </a:solidFill>
                <a:latin typeface="Aptos"/>
              </a:defRPr>
            </a:pPr>
            <a:r>
              <a:t>Milestone 4 presentation focus: a refined login experience and a clear, useful main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746504"/>
            <a:ext cx="1097280" cy="32004"/>
          </a:xfrm>
          <a:prstGeom prst="rect">
            <a:avLst/>
          </a:prstGeom>
          <a:solidFill>
            <a:srgbClr val="31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657600" cy="2971800"/>
          </a:xfrm>
          <a:prstGeom prst="roundRect">
            <a:avLst/>
          </a:prstGeom>
          <a:solidFill>
            <a:srgbClr val="13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5F8FF"/>
                </a:solidFill>
                <a:latin typeface="Aptos"/>
              </a:defRPr>
            </a:pPr>
            <a:r>
              <a:t>MarketMindAI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07792"/>
            <a:ext cx="2834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1D6DC"/>
                </a:solidFill>
                <a:latin typeface="Aptos"/>
              </a:defRPr>
            </a:pPr>
            <a:r>
              <a:t>Welcome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AAB8D2"/>
                </a:solidFill>
                <a:latin typeface="Aptos"/>
              </a:defRPr>
            </a:pPr>
            <a:r>
              <a:t>Sign in to your business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675887"/>
            <a:ext cx="2926080" cy="384048"/>
          </a:xfrm>
          <a:prstGeom prst="round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767328"/>
            <a:ext cx="2651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AB8D2"/>
                </a:solidFill>
                <a:latin typeface="Aptos"/>
              </a:defRPr>
            </a:pPr>
            <a:r>
              <a:t>Email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169663"/>
            <a:ext cx="2926080" cy="384048"/>
          </a:xfrm>
          <a:prstGeom prst="round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261104"/>
            <a:ext cx="2651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AB8D2"/>
                </a:solidFill>
                <a:latin typeface="Aptos"/>
              </a:defRPr>
            </a:pPr>
            <a:r>
              <a:t>Password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645152"/>
            <a:ext cx="2926080" cy="347472"/>
          </a:xfrm>
          <a:prstGeom prst="roundRect">
            <a:avLst/>
          </a:prstGeom>
          <a:solidFill>
            <a:srgbClr val="52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18304"/>
            <a:ext cx="29260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5F8FF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148840"/>
            <a:ext cx="6675120" cy="2971800"/>
          </a:xfrm>
          <a:prstGeom prst="roundRect">
            <a:avLst/>
          </a:prstGeom>
          <a:solidFill>
            <a:srgbClr val="13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3931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Business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761488"/>
            <a:ext cx="36576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AAB8D2"/>
                </a:solidFill>
                <a:latin typeface="Aptos"/>
              </a:defRPr>
            </a:pPr>
            <a:r>
              <a:t>Key performance indicators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154680"/>
            <a:ext cx="1645920" cy="713232"/>
          </a:xfrm>
          <a:prstGeom prst="round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4648" y="3264408"/>
            <a:ext cx="1371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AAB8D2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529584"/>
            <a:ext cx="13716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1D6DC"/>
                </a:solidFill>
                <a:latin typeface="Aptos"/>
              </a:defRPr>
            </a:pPr>
            <a:r>
              <a:t>Sales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154680"/>
            <a:ext cx="1645920" cy="713232"/>
          </a:xfrm>
          <a:prstGeom prst="round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59168" y="3264408"/>
            <a:ext cx="1371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AAB8D2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529584"/>
            <a:ext cx="13716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280FF"/>
                </a:solidFill>
                <a:latin typeface="Aptos"/>
              </a:defRPr>
            </a:pPr>
            <a:r>
              <a:t>Order volume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3154680"/>
            <a:ext cx="1645920" cy="713232"/>
          </a:xfrm>
          <a:prstGeom prst="round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7" y="3264408"/>
            <a:ext cx="1371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AAB8D2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7" y="3529584"/>
            <a:ext cx="13716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A469FF"/>
                </a:solidFill>
                <a:latin typeface="Aptos"/>
              </a:defRPr>
            </a:pPr>
            <a:r>
              <a:t>Segments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4425696"/>
            <a:ext cx="310896" cy="347472"/>
          </a:xfrm>
          <a:prstGeom prst="roundRect">
            <a:avLst/>
          </a:prstGeom>
          <a:solidFill>
            <a:srgbClr val="31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824728" y="4206240"/>
            <a:ext cx="310896" cy="566928"/>
          </a:xfrm>
          <a:prstGeom prst="roundRect">
            <a:avLst/>
          </a:prstGeom>
          <a:solidFill>
            <a:srgbClr val="52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83096" y="4315968"/>
            <a:ext cx="310896" cy="457200"/>
          </a:xfrm>
          <a:prstGeom prst="roundRect">
            <a:avLst/>
          </a:prstGeom>
          <a:solidFill>
            <a:srgbClr val="A4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141464" y="3950207"/>
            <a:ext cx="310896" cy="822960"/>
          </a:xfrm>
          <a:prstGeom prst="roundRect">
            <a:avLst/>
          </a:prstGeom>
          <a:solidFill>
            <a:srgbClr val="31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799832" y="4087368"/>
            <a:ext cx="310896" cy="685800"/>
          </a:xfrm>
          <a:prstGeom prst="roundRect">
            <a:avLst/>
          </a:prstGeom>
          <a:solidFill>
            <a:srgbClr val="52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58200" y="3749039"/>
            <a:ext cx="310896" cy="1024128"/>
          </a:xfrm>
          <a:prstGeom prst="roundRect">
            <a:avLst/>
          </a:prstGeom>
          <a:solidFill>
            <a:srgbClr val="A4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16568" y="3904487"/>
            <a:ext cx="310896" cy="868680"/>
          </a:xfrm>
          <a:prstGeom prst="roundRect">
            <a:avLst/>
          </a:prstGeom>
          <a:solidFill>
            <a:srgbClr val="31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74936" y="3602735"/>
            <a:ext cx="310896" cy="1170432"/>
          </a:xfrm>
          <a:prstGeom prst="roundRect">
            <a:avLst/>
          </a:prstGeom>
          <a:solidFill>
            <a:srgbClr val="52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864608"/>
            <a:ext cx="329184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AAB8D2"/>
                </a:solidFill>
                <a:latin typeface="Aptos"/>
              </a:defRPr>
            </a:pPr>
            <a:r>
              <a:t>POLISHED DASHBOARD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557"/>
                </a:solidFill>
                <a:latin typeface="Aptos"/>
              </a:defRPr>
            </a:pPr>
            <a:r>
              <a:t>Illustrative layout only — replace these visuals with real screenshots from the locally running website.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6510528"/>
            <a:ext cx="5029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AAB8D2"/>
                </a:solidFill>
                <a:latin typeface="Aptos"/>
              </a:defRPr>
            </a:pPr>
            <a:r>
              <a:t>MARKETMIND AI  •  MILESTONE 4  •  PRESENTED BY ADITYA PANDYA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4572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3BEA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98755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From retail data to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86000"/>
            <a:ext cx="987552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B4C0D2"/>
                </a:solidFill>
                <a:latin typeface="Aptos"/>
              </a:rPr>
              <a:t>Across Milestones 1–4, MarketMind AI has progressed from a secure application foundation to customer analytics, forecasting, recommendations, churn-risk analysis, and anomaly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2958084"/>
            <a:ext cx="3200400" cy="123444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" y="3067812"/>
            <a:ext cx="54864" cy="101498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122674"/>
            <a:ext cx="28346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Milestone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616452"/>
            <a:ext cx="2834640" cy="4663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Application foundation and access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3841" y="2990089"/>
            <a:ext cx="3200400" cy="123444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53841" y="3099817"/>
            <a:ext cx="54864" cy="1014984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5009" y="3154680"/>
            <a:ext cx="28346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Milestone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5009" y="3648457"/>
            <a:ext cx="2834640" cy="4663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Segmentation and forecasting.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6096" y="3012947"/>
            <a:ext cx="3200400" cy="123444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6096" y="3122675"/>
            <a:ext cx="54864" cy="101498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27264" y="3177538"/>
            <a:ext cx="28346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Milestone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3671315"/>
            <a:ext cx="2834640" cy="4663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4C0D2"/>
                </a:solidFill>
                <a:latin typeface="Aptos"/>
              </a:rPr>
              <a:t>Recommendations, churn, and anomalies.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715000"/>
            <a:ext cx="4085670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8FAFD"/>
                </a:solidFill>
                <a:latin typeface="Aptos"/>
              </a:rPr>
              <a:t>I welcome your questions and feedback.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13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A17A12B6-79A4-891A-8672-F83A85E19A6D}"/>
              </a:ext>
            </a:extLst>
          </p:cNvPr>
          <p:cNvSpPr/>
          <p:nvPr/>
        </p:nvSpPr>
        <p:spPr>
          <a:xfrm>
            <a:off x="4059937" y="4421126"/>
            <a:ext cx="3200400" cy="1234440"/>
          </a:xfrm>
          <a:prstGeom prst="roundRect">
            <a:avLst/>
          </a:prstGeom>
          <a:solidFill>
            <a:srgbClr val="1B2A46"/>
          </a:solidFill>
          <a:ln>
            <a:solidFill>
              <a:srgbClr val="36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8ED8E0-C738-A16C-0A64-AE5404B5C9AA}"/>
              </a:ext>
            </a:extLst>
          </p:cNvPr>
          <p:cNvSpPr/>
          <p:nvPr/>
        </p:nvSpPr>
        <p:spPr>
          <a:xfrm>
            <a:off x="4059937" y="4530854"/>
            <a:ext cx="54864" cy="1014984"/>
          </a:xfrm>
          <a:prstGeom prst="rect">
            <a:avLst/>
          </a:prstGeom>
          <a:solidFill>
            <a:srgbClr val="5C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1EF0A0-6896-0517-94E6-5525DAB02563}"/>
              </a:ext>
            </a:extLst>
          </p:cNvPr>
          <p:cNvSpPr txBox="1"/>
          <p:nvPr/>
        </p:nvSpPr>
        <p:spPr>
          <a:xfrm>
            <a:off x="4261105" y="4585717"/>
            <a:ext cx="1166794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F8FAFD"/>
                </a:solidFill>
                <a:latin typeface="Aptos"/>
              </a:rPr>
              <a:t>Milestone </a:t>
            </a:r>
            <a:r>
              <a:rPr lang="en-US" sz="1600" b="1" i="0" dirty="0">
                <a:solidFill>
                  <a:srgbClr val="F8FAFD"/>
                </a:solidFill>
                <a:latin typeface="Aptos"/>
              </a:rPr>
              <a:t>4</a:t>
            </a:r>
            <a:endParaRPr sz="1600" b="1" i="0" dirty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45789C-5C23-B5A8-B713-48B61903690D}"/>
              </a:ext>
            </a:extLst>
          </p:cNvPr>
          <p:cNvSpPr txBox="1"/>
          <p:nvPr/>
        </p:nvSpPr>
        <p:spPr>
          <a:xfrm>
            <a:off x="4261105" y="5079494"/>
            <a:ext cx="1673535" cy="2769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rgbClr val="B4C0D2"/>
                </a:solidFill>
                <a:latin typeface="Aptos"/>
              </a:rPr>
              <a:t>Polish and </a:t>
            </a:r>
            <a:r>
              <a:rPr lang="en-US" sz="1200" dirty="0" err="1">
                <a:solidFill>
                  <a:srgbClr val="B4C0D2"/>
                </a:solidFill>
                <a:latin typeface="Aptos"/>
              </a:rPr>
              <a:t>Depolyment</a:t>
            </a:r>
            <a:r>
              <a:rPr sz="1200" b="0" i="0" dirty="0">
                <a:solidFill>
                  <a:srgbClr val="B4C0D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45F42-4ECF-88C4-9E99-CD0867F3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B0EDF-A66A-0ACD-203C-F192D70D9E8A}"/>
              </a:ext>
            </a:extLst>
          </p:cNvPr>
          <p:cNvSpPr txBox="1"/>
          <p:nvPr/>
        </p:nvSpPr>
        <p:spPr>
          <a:xfrm>
            <a:off x="3731456" y="1529862"/>
            <a:ext cx="4212885" cy="232371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endParaRPr lang="en-US" sz="7000" b="1" i="0" dirty="0">
              <a:solidFill>
                <a:srgbClr val="23BEAA"/>
              </a:solidFill>
              <a:latin typeface="Aptos"/>
            </a:endParaRPr>
          </a:p>
          <a:p>
            <a:pPr algn="ctr">
              <a:spcAft>
                <a:spcPts val="600"/>
              </a:spcAft>
            </a:pPr>
            <a:r>
              <a:rPr lang="en-US" sz="7000" b="1" i="0" dirty="0">
                <a:solidFill>
                  <a:srgbClr val="23BEAA"/>
                </a:solidFill>
                <a:latin typeface="Aptos"/>
              </a:rPr>
              <a:t>Thank you</a:t>
            </a:r>
            <a:endParaRPr sz="7000" b="1" i="0" dirty="0">
              <a:solidFill>
                <a:srgbClr val="23BEAA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E3251-7B11-9BFF-6AE8-A8DCDA931741}"/>
              </a:ext>
            </a:extLst>
          </p:cNvPr>
          <p:cNvSpPr txBox="1"/>
          <p:nvPr/>
        </p:nvSpPr>
        <p:spPr>
          <a:xfrm>
            <a:off x="4975418" y="4097216"/>
            <a:ext cx="1603644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1" dirty="0">
                <a:solidFill>
                  <a:srgbClr val="F8FAFD"/>
                </a:solidFill>
                <a:latin typeface="Aptos"/>
              </a:rPr>
              <a:t>- </a:t>
            </a:r>
            <a:r>
              <a:rPr lang="en-US" sz="1700" b="1" i="0" dirty="0">
                <a:solidFill>
                  <a:srgbClr val="F8FAFD"/>
                </a:solidFill>
                <a:latin typeface="Aptos"/>
              </a:rPr>
              <a:t>Aditya Pandya</a:t>
            </a:r>
            <a:endParaRPr sz="1700" b="1" i="0" dirty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4BB01-F9C4-ED43-D8A0-BEF899A1ADB1}"/>
              </a:ext>
            </a:extLst>
          </p:cNvPr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B4C0D2"/>
                </a:solidFill>
                <a:latin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62930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1333</Words>
  <Application>Microsoft Office PowerPoint</Application>
  <PresentationFormat>Widescreen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MarketMind AI — Final Project Presentation (Milestones 1–4)</dc:title>
  <dc:subject>Project presentation for mentor review</dc:subject>
  <dc:creator>Aditya Pandya</dc:creator>
  <cp:keywords>MarketMind AI, sales intelligence, forecasting, segmentation, recommendations</cp:keywords>
  <dc:description>generated using python-pptx</dc:description>
  <cp:lastModifiedBy>Aditya Pandya</cp:lastModifiedBy>
  <cp:revision>4</cp:revision>
  <dcterms:created xsi:type="dcterms:W3CDTF">2013-01-27T09:14:16Z</dcterms:created>
  <dcterms:modified xsi:type="dcterms:W3CDTF">2026-10-15T14:40:04Z</dcterms:modified>
  <cp:category/>
</cp:coreProperties>
</file>