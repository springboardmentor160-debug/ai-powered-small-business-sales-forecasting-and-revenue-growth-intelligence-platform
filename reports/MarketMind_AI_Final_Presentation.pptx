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097280" cy="10972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MarketMind AI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</a:defRPr>
            </a:pPr>
            <a:r>
              <a:t>AI-Powered Small Business Sales Forecasting &amp; Revenue Growth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996696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PROJECT MILESTONE 4 — FINAL SUBMISSION &amp; FORMAL MODEL EVALUATION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Domain: AI-Driven Enterprise Intelligence &amp; Retail Sales Analytics</a:t>
            </a:r>
            <a:br/>
            <a:r>
              <a:t>• Architecture: FastAPI (Python 3.13) + React 19 / Vite + SQLite (SQLAlchemy) + Docker</a:t>
            </a:r>
            <a:br/>
            <a:r>
              <a:t>• Machine Learning: Prophet, XGBoost, Scikit-Learn (Random Forest, Isolation Forest, K-Means)</a:t>
            </a:r>
            <a:br/>
            <a:r>
              <a:t>• Author / Candidate: Sultan | Branch: feature/milestone-4-sultan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Problem Statement &amp; Platform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The Small Business Challenge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• Disparate Sales Records: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Small retailers struggle with siloed transaction registers, making real-time visibility and inventory tracking nearly impossible.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• Reactive Decision-Making: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Without predictive intelligence, stocking and marketing decisions rely on intuition rather than historical demand signals.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• Customer Retention Blindspots: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Retailers lack early warning indicators for churn, failing to intervene before high-value customers lapse.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• Revenue Leakage &amp; Fraud: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Manual reconciliation fails to catch transaction anomalies, irregular bulk orders, or data entry errors in daily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MarketMind AI Objectives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✓ Automated Sales Forecasting: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Compare multi-model predictive algorithms (Prophet vs Random Forest vs XGBoost) to forecast demand with lowest generalization error.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✓ Customer Segmentation &amp; Personas: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Cluster shoppers into actionable cohorts using RFM attributes for targeted loyalty and promotional campaigns.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✓ Cross-Sell Recommendation Engine: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Deliver personalized cross-sell suggestions combining collaborative filtering and association rules.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✓ Proactive Churn Prevention: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Identify at-risk accounts using classification models with 100% recall priority for customer retention.</a:t>
            </a:r>
          </a:p>
          <a:p>
            <a:pPr>
              <a:spcBef>
                <a:spcPts val="800"/>
              </a:spcBef>
              <a:defRPr b="1" sz="1200">
                <a:solidFill>
                  <a:srgbClr val="1E293B"/>
                </a:solidFill>
              </a:defRPr>
            </a:pPr>
            <a:r>
              <a:t>✓ Automated Anomaly Detection: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Catch anomalous transactions in real time using statistical Z-Score and Isolation Forest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System Architecture &amp; Modern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3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Frontend Presentation Tier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React 19 + Vite SPA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Role-Based Dashboards (Owner, Manager, Admin)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Model Evaluation Hub &amp; Live Metrics Visualization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Interactive Charts (Recharts / SVG) &amp; Report Downloads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Resilient Error Handling, Session Expiry &amp; Fallback States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API &amp; Machine Learning Tier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FastAPI + Python 3.13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Modular Routers: Auth, Sales, Forecast, Churn, Anomaly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5 Isolated AI Pipelines with Scientific Evaluation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JWT Authentication + BCrypt Password Hashing + RBAC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Automated CSV &amp; Excel Report Generation (OpenPyXL)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Data &amp; Deployment Tier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SQLite + Docker + Nginx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SQLAlchemy ORM with Normalized Transaction Schemas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Multi-Stage Docker Containerization with Alpine Linux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Nginx Reverse Proxy with Gzip Compression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Cloud-Ready Manifests (Render / Railway / Compose)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Sales Data Ingestion &amp; 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4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Data Pipeline &amp; Feature Engineering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• Raw Transaction Ingestion: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Parses retail transaction logs, validates datatypes, standardizes customer and product identifiers, handles missing fields.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• Chronological Aggregation: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Resamples raw sales into daily revenue time-series without lookahead bias, tracking daily gross revenue and unit volume.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• Behavioral Matrix Construction: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Constructs customer-product co-occurrence matrices for collaborative filtering and calculates RFM (Recency, Frequency, Monetary) metrics.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• Temporal Lag Features: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Computes shift(1) lag values, rolling means, and day-of-week indicators for autoregressive ML models (Random Forest and XGBoost).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Exploratory Findings &amp; Baseline Stats</a:t>
            </a:r>
          </a:p>
          <a:p>
            <a:pPr>
              <a:spcBef>
                <a:spcPts val="800"/>
              </a:spcBef>
              <a:defRPr b="1" sz="1200">
                <a:solidFill>
                  <a:srgbClr val="16A34A"/>
                </a:solidFill>
              </a:defRPr>
            </a:pPr>
            <a:r>
              <a:t>✓ Clean Transaction Records: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8 verified transaction records spanning 5 unique small business retail customers and 4 distinct product categories.</a:t>
            </a:r>
          </a:p>
          <a:p>
            <a:pPr>
              <a:spcBef>
                <a:spcPts val="800"/>
              </a:spcBef>
              <a:defRPr b="1" sz="1200">
                <a:solidFill>
                  <a:srgbClr val="16A34A"/>
                </a:solidFill>
              </a:defRPr>
            </a:pPr>
            <a:r>
              <a:t>✓ Total Baseline Revenue: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$340.00 across transactions with average ticket value of $42.50.</a:t>
            </a:r>
          </a:p>
          <a:p>
            <a:pPr>
              <a:spcBef>
                <a:spcPts val="800"/>
              </a:spcBef>
              <a:defRPr b="1" sz="1200">
                <a:solidFill>
                  <a:srgbClr val="16A34A"/>
                </a:solidFill>
              </a:defRPr>
            </a:pPr>
            <a:r>
              <a:t>✓ Top Revenue Generators: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Notebook A ($120.00) and Pen Set ($80.00) represent the highest sales volume.</a:t>
            </a:r>
          </a:p>
          <a:p>
            <a:pPr>
              <a:spcBef>
                <a:spcPts val="800"/>
              </a:spcBef>
              <a:defRPr b="1" sz="1200">
                <a:solidFill>
                  <a:srgbClr val="16A34A"/>
                </a:solidFill>
              </a:defRPr>
            </a:pPr>
            <a:r>
              <a:t>✓ Data Hygiene &amp; Integrity: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100% complete records: zero null prices, valid timestamps, normalized customer keys.</a:t>
            </a:r>
          </a:p>
          <a:p>
            <a:pPr>
              <a:spcBef>
                <a:spcPts val="800"/>
              </a:spcBef>
              <a:defRPr b="1" sz="1200">
                <a:solidFill>
                  <a:srgbClr val="16A34A"/>
                </a:solidFill>
              </a:defRPr>
            </a:pPr>
            <a:r>
              <a:t>✓ Data Scaling Preparation: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Integrated Kaggle Online Retail / Superstore ingestion utilities (backend/kaggle_loader.py) enabling expansion to 500,000+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Customer Segmentation &amp; Persona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5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Clustering Architecture &amp; Personas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High-Value Loyal Shoppers: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Frequent purchases, high cumulative revenue ($90+), short recency. Target: VIP rewards, early access.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Steady Repeat Buyers: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Regular moderate transactions, consistent basket sizes. Target: Subscription bundles, cross-category coupons.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Occasional / Low-Frequency: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Infrequent visits, single-item purchases. Target: Re-engagement discounts and seasonal promotions.</a:t>
            </a:r>
          </a:p>
          <a:p>
            <a:pPr>
              <a:spcBef>
                <a:spcPts val="600"/>
              </a:spcBef>
              <a:defRPr b="1" sz="1200">
                <a:solidFill>
                  <a:srgbClr val="2563EB"/>
                </a:solidFill>
              </a:defRPr>
            </a:pPr>
            <a:r>
              <a:t>• Dormant / At-Risk Cohort: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Extended inactive duration, declining activity score. Target: Win-back marketing and surveys.</a:t>
            </a:r>
          </a:p>
        </p:txBody>
      </p:sp>
      <p:pic>
        <p:nvPicPr>
          <p:cNvPr id="7" name="Picture 6" descr="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3949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Hierarchical Ward Dendrogram (Actual Generated Visualization)</a:t>
            </a:r>
            <a:br/>
            <a:r>
              <a:t>Silhouette Score: 0.3215 on scaled RFM features. Validates dual-method consistency.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Multi-Model Sales Forecasting &amp; Overfitting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6 of 12</a:t>
            </a:r>
          </a:p>
        </p:txBody>
      </p:sp>
      <p:pic>
        <p:nvPicPr>
          <p:cNvPr id="6" name="Picture 5" descr="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4015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463040"/>
            <a:ext cx="47548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Model Benchmark &amp; Champion Selection</a:t>
            </a:r>
          </a:p>
          <a:p>
            <a:pPr>
              <a:spcBef>
                <a:spcPts val="600"/>
              </a:spcBef>
              <a:defRPr b="1" sz="1100">
                <a:solidFill>
                  <a:srgbClr val="2563EB"/>
                </a:solidFill>
              </a:defRPr>
            </a:pPr>
            <a:r>
              <a:t>• Prophet (Champion):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Test MAE: 21.73 | Train MAE: 22.39 | Train R²: 0.748. Smooth additive trend modeling prevents memorization; lowest out-of-sample error.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Random Forest Regressor: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Test MAE: 25.96 | Train MAE: 23.25. Ensemble bagging provides robust baseline without extreme variance.</a:t>
            </a:r>
          </a:p>
          <a:p>
            <a:pPr>
              <a:spcBef>
                <a:spcPts val="600"/>
              </a:spcBef>
              <a:defRPr b="1" sz="1100">
                <a:solidFill>
                  <a:srgbClr val="E11D48"/>
                </a:solidFill>
              </a:defRPr>
            </a:pPr>
            <a:r>
              <a:t>• XGBoost Regressor (Overfit):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Test MAE: 83.49 | Train MAE: 0.28 | Train R²: 1.00. Quantifiable overfitting: memorized 4 training points perfectly, then failed on holdout.</a:t>
            </a:r>
          </a:p>
          <a:p>
            <a:pPr>
              <a:spcBef>
                <a:spcPts val="600"/>
              </a:spcBef>
              <a:defRPr b="1" sz="1100">
                <a:solidFill>
                  <a:srgbClr val="0F172A"/>
                </a:solidFill>
              </a:defRPr>
            </a:pPr>
            <a:r>
              <a:t>• Scientific Integrity Finding: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Test R² is mathematically undefined on 1 test holdout day (zero variance in denominator); documented as 'unavailable' instead of fabricating a metric.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6. Hybrid Product Recommendation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7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Collaborative Filtering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Constructs customer × item interaction matrix.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Computes pairwise Cosine Similarity across shopper behavior.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Generates affinity scores: predicts unpurchased products based on peer customer habits.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Handles cold-start via popular-item fallbacks.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Association Rule Mining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Employs Apriori algorithm from mlxtend.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Discovers frequent itemsets and co-purchase patterns (e.g. Notebook A → Pen Set).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Calculates Support, Confidence, and Lift.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Identifies high-lift affinities for impulse checkout bundles.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Hybrid Engine &amp; Evaluation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Weighted score combination: 60% Collaborative + 40% Association Lift.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Novelty Filtering: deliberately suppresses products already bought to promote catalog exploration.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Evaluation Result: Precision@3 = 0.0, Recall@3 = 0.0 in leave-one-out testing.</a:t>
            </a:r>
          </a:p>
          <a:p>
            <a:pPr>
              <a:spcBef>
                <a:spcPts val="700"/>
              </a:spcBef>
              <a:defRPr sz="1000">
                <a:solidFill>
                  <a:srgbClr val="1E293B"/>
                </a:solidFill>
              </a:defRPr>
            </a:pPr>
            <a:r>
              <a:t>• Honest Explanation: In 4-item catalog, repeat buyers purchased identical items. Suppression meant engine proposed unbought items, yielding 0.0 on repeat purchases.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7. Customer Churn Prediction &amp; Retention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8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Churn Methodology &amp; Risk Scoring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• Business Churn Definition: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Customers with no purchase activity exceeding the inactivity threshold (recency &gt; 30 days or activity days = 0) are labeled churn risk.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• Feature Engineering: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Extracts recency, transaction count, average spend, and historical frequency to train classification algorithms.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• Multi-Classifier Benchmarking: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Trained and compared Logistic Regression, Random Forest Classifier, and XGBoost Classifier.</a:t>
            </a:r>
          </a:p>
          <a:p>
            <a:pPr>
              <a:spcBef>
                <a:spcPts val="800"/>
              </a:spcBef>
              <a:defRPr b="1" sz="1200">
                <a:solidFill>
                  <a:srgbClr val="2563EB"/>
                </a:solidFill>
              </a:defRPr>
            </a:pPr>
            <a:r>
              <a:t>• Business Recall Priority: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In small business retention, False Negatives (missing a churner) are far costlier than False Positives. Models tuned for high sensitivity.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Actual Evaluation Results (Held-Out Test)</a:t>
            </a:r>
          </a:p>
          <a:p>
            <a:pPr>
              <a:spcBef>
                <a:spcPts val="800"/>
              </a:spcBef>
              <a:defRPr b="1" sz="1200">
                <a:solidFill>
                  <a:srgbClr val="16A34A"/>
                </a:solidFill>
              </a:defRPr>
            </a:pPr>
            <a:r>
              <a:t>✓ Recall (Class 1 Churn) → 1.0000 (100%):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Achieved 100% recall across all 3 classifiers. Successfully identified the held-out churned customer without missing risk.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✓ Precision (Class 1 Churn) → 0.5000 (50%):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Conservative decision threshold correctly captures churner while flagging active account for preventive retention care.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✓ Accuracy &amp; F1-Score → Accuracy: 50.0% | F1-Score: 0.6667: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Harmonic balance on small held-out test split (1 churned, 1 active customer).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✓ Actionable UI Integration → High / Medium / Low Badges: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Dashboard flags each customer's risk level with personalized retention recommendations and coupon offers.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8. Dual-Method Transaction Anomaly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9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Statistical Z-Score Detector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Methodology: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Computes standardized distance z = (x - μ) / σ on transaction amounts and unit quantities. Threshold: |z| &gt; 2.0.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Evaluation Accuracy: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90.0% Detection Accuracy on dedicated 20-transaction test fixture.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False Positive Rate: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0.0% FPR: zero clean retail transactions falsely flagged as fraud.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Operational Strengths: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Lightweight, instantaneous execution, perfect for streaming checkout fraud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Multidimensional Isolation Forest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✓ Methodology: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Tree ensemble isolating anomalies via short average path length across revenue, quantity, and unit price dimensions.</a:t>
            </a:r>
          </a:p>
          <a:p>
            <a:pPr>
              <a:spcBef>
                <a:spcPts val="800"/>
              </a:spcBef>
              <a:defRPr b="1" sz="1200">
                <a:solidFill>
                  <a:srgbClr val="16A34A"/>
                </a:solidFill>
              </a:defRPr>
            </a:pPr>
            <a:r>
              <a:t>✓ Evaluation Accuracy: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100.0% Detection Accuracy on 20-transaction test fixture (TP=4, TN=16).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✓ False Positive Rate: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0.0% FPR: perfect separation of normal sales vs fraudulent injections.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✓ Operational Strengths: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Captures subtle multidimensional anomalies that escape univariate standard deviation filters.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9. Formal Model Evaluation: Unified Results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10 of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1645920"/>
                <a:gridCol w="1371600"/>
                <a:gridCol w="3504895"/>
              </a:tblGrid>
              <a:tr h="3740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AI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Scientific Findings &amp; Integrity 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Sales Forecasting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Prophet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21.7255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Champion Model: Lowest forecast generalization error.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Sales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25.9600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Strong ensemble baseline; balanced variance.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Sales Forecasting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Test MAE / Train MAE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83.49 / 0.28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Severe Overfitting: memorized train set, high test error.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Customer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K-Means Clustering (k=4)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Silhouette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0.3215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Scaled RFM features; establishes 4 business personas.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Customer Segmentation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Hierarchical Ward (k=4)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Silhouette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0.3215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Dendrogram validation confirms agglomerative clusters.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Customer Churn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Recall (Class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1.0000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Catches all churners; zero retention false negatives.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Customer Churn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Random Forest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Recall / F1-Score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1.00 / 0.6667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Robust tree classification boundary.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Product Recommender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Hybrid (Collab + Assoc)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Precision@3 / Recall@3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0.0000 / 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Discovery filter suppresses repeat buys in 4-item catalog.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Anomaly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Z-Score Detector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Accuracy / FPR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90.0% / 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Clean separation; 0 false alarms on normal transactions.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Anomaly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Accuracy / FPR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100.0% / 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Multidimensional isolation of all 4 test anomalies.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150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Persisted Record: reports/milestone4_test_results.csv (38 metric rows) | Automated Suite: 13/13 Pytest passed.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10. Application Architecture, Docker &amp; Cloud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11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Containerization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Docker &amp; Compose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backend/Dockerfile: Python 3.13-slim with build-essential, curl health checks.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frontend/Dockerfile: Multi-stage Node 20-alpine builder + Nginx 1.25 runtime.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docker-compose.yml: Network isolation (marketmind-net), volumes for db/ &amp; reports/.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Zero Hardcoded URLs: Dynamic VITE_API_URL and reverse proxy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Resilience &amp; Security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FastAPI + React 19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RBAC Enforced: Owner, Manager, Admin roles with granular permission guards.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Session Expiry: Automatic token invalidation, no raw stack traces exposed to client.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Downloadable Reports: Excel (.xlsx) and Milestone 4 Evaluation CSV (.csv).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Responsive Modern UI: Glassmorphism theme, tabbed navigation, loading spinners.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Cloud Readiness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Render &amp; Railway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render.yaml blueprint configured for instant one-click repository deployment.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Persistent Disks for SQLite database durability on cloud container restarts.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Decoupled Frontend / Backend architecture supports static CDN or unified proxy.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Environment Variable Isolation: JWT_SECRET_KEY, DATABASE_URL injected at runtime.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MARKETMIND AI — MILESTONE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11. Conclusion, Limitations &amp; Future Expansion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MarketMind AI | Final Internship Presentation | Slide 12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Internship Achievements</a:t>
            </a:r>
          </a:p>
          <a:p>
            <a:pPr>
              <a:spcBef>
                <a:spcPts val="600"/>
              </a:spcBef>
              <a:defRPr b="1" sz="1200">
                <a:solidFill>
                  <a:srgbClr val="16A34A"/>
                </a:solidFill>
              </a:defRPr>
            </a:pPr>
            <a:r>
              <a:t>✓ Full-Stack Enterprise Delivery: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Delivered end-to-end small business intelligence platform with FastAPI backend and React 19 frontend.</a:t>
            </a:r>
          </a:p>
          <a:p>
            <a:pPr>
              <a:spcBef>
                <a:spcPts val="600"/>
              </a:spcBef>
              <a:defRPr b="1" sz="1200">
                <a:solidFill>
                  <a:srgbClr val="16A34A"/>
                </a:solidFill>
              </a:defRPr>
            </a:pPr>
            <a:r>
              <a:t>✓ 5 AI Modules Operational: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Forecasting, Segmentation, Recommendations, Churn, and Anomaly Detection all connected to live REST endpoints.</a:t>
            </a:r>
          </a:p>
          <a:p>
            <a:pPr>
              <a:spcBef>
                <a:spcPts val="600"/>
              </a:spcBef>
              <a:defRPr b="1" sz="1200">
                <a:solidFill>
                  <a:srgbClr val="16A34A"/>
                </a:solidFill>
              </a:defRPr>
            </a:pPr>
            <a:r>
              <a:t>✓ Scientific Evaluation Completed: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38 verified metrics persisted to reports/milestone4_test_results.csv and detailed evaluation report.</a:t>
            </a:r>
          </a:p>
          <a:p>
            <a:pPr>
              <a:spcBef>
                <a:spcPts val="600"/>
              </a:spcBef>
              <a:defRPr b="1" sz="1200">
                <a:solidFill>
                  <a:srgbClr val="16A34A"/>
                </a:solidFill>
              </a:defRPr>
            </a:pPr>
            <a:r>
              <a:t>✓ Zero-Test Issue Solved: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Configured pytest.ini, achieving 13/13 passing automated tests across all milestones with 0 failures.</a:t>
            </a:r>
          </a:p>
          <a:p>
            <a:pPr>
              <a:spcBef>
                <a:spcPts val="600"/>
              </a:spcBef>
              <a:defRPr b="1" sz="1200">
                <a:solidFill>
                  <a:srgbClr val="16A34A"/>
                </a:solidFill>
              </a:defRPr>
            </a:pPr>
            <a:r>
              <a:t>✓ Clean Containerization: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Docker &amp; Docker Compose production files ready for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Practical Limitations &amp; Future Scope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• Small Sample Dataset Limitations: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Baseline dataset contains 8 transactions and 5 customers. Test R² is undefined on 1 test day, and XGBoost overfits on tiny training partitions.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• Expanded Dataset Ingestion: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Kaggle loader prepared to stream Online Retail II (540,000+ rows) to unlock deep learning and cross-validation.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• Real-Time Event Streaming: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Upgrade anomaly detection with Apache Kafka / Redis for millisecond-latency transaction interception.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• Automated Retraining Pipelines: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Implement periodic scheduled model re-fitting as new sales receipts enter the database.</a:t>
            </a:r>
          </a:p>
          <a:p>
            <a:pPr>
              <a:spcBef>
                <a:spcPts val="600"/>
              </a:spcBef>
              <a:defRPr b="1" sz="1200">
                <a:solidFill>
                  <a:srgbClr val="0F172A"/>
                </a:solidFill>
              </a:defRPr>
            </a:pPr>
            <a:r>
              <a:t>• PostgreSQL Production Migration: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Transition from SQLite to managed PostgreSQL for multi-region concurrent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